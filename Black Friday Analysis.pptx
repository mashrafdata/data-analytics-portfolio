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73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69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4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3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9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88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3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6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9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EA954DF-BAD4-436D-BCF6-FA9EFF761C18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F964994-825D-4ADD-8E1F-917992AE9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0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D653-382A-2BF7-E729-5C9604DD9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956117"/>
          </a:xfrm>
          <a:solidFill>
            <a:srgbClr val="00B0F0"/>
          </a:solidFill>
        </p:spPr>
        <p:txBody>
          <a:bodyPr/>
          <a:lstStyle/>
          <a:p>
            <a:pPr algn="l"/>
            <a:r>
              <a:rPr lang="en-US" b="1" dirty="0">
                <a:latin typeface="Elephant" panose="02020904090505020303" pitchFamily="18" charset="0"/>
              </a:rPr>
              <a:t> Black Friday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CBF3F-C894-A829-D0CC-F34BE754D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5360" y="4069398"/>
            <a:ext cx="9144000" cy="736282"/>
          </a:xfrm>
        </p:spPr>
        <p:txBody>
          <a:bodyPr>
            <a:normAutofit/>
          </a:bodyPr>
          <a:lstStyle/>
          <a:p>
            <a:pPr algn="l"/>
            <a:r>
              <a:rPr lang="en-US" sz="1600" dirty="0">
                <a:latin typeface="Berlin Sans FB Demi" panose="020E0802020502020306" pitchFamily="34" charset="0"/>
              </a:rPr>
              <a:t>Prepared by : Mustafa Ashraf</a:t>
            </a:r>
          </a:p>
        </p:txBody>
      </p:sp>
    </p:spTree>
    <p:extLst>
      <p:ext uri="{BB962C8B-B14F-4D97-AF65-F5344CB8AC3E}">
        <p14:creationId xmlns:p14="http://schemas.microsoft.com/office/powerpoint/2010/main" val="80969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D7C7CB-36CE-E4C2-BE24-FFD03573FF0A}"/>
              </a:ext>
            </a:extLst>
          </p:cNvPr>
          <p:cNvSpPr txBox="1"/>
          <p:nvPr/>
        </p:nvSpPr>
        <p:spPr>
          <a:xfrm>
            <a:off x="812800" y="182880"/>
            <a:ext cx="86055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egoe UI Black" panose="020B0A02040204020203" pitchFamily="34" charset="0"/>
                <a:ea typeface="Segoe UI Black" panose="020B0A02040204020203" pitchFamily="34" charset="0"/>
                <a:cs typeface="Times New Roman" panose="02020603050405020304" pitchFamily="18" charset="0"/>
              </a:rPr>
              <a:t>The dataset contains customer transaction data during Black Friday.</a:t>
            </a:r>
          </a:p>
          <a:p>
            <a:endParaRPr lang="en-US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3E507DD-8D91-137F-0C38-707E0A45B806}"/>
              </a:ext>
            </a:extLst>
          </p:cNvPr>
          <p:cNvSpPr/>
          <p:nvPr/>
        </p:nvSpPr>
        <p:spPr>
          <a:xfrm>
            <a:off x="203200" y="130125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D6E49A7-7D15-548F-2BDC-2C11431FF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01906"/>
              </p:ext>
            </p:extLst>
          </p:nvPr>
        </p:nvGraphicFramePr>
        <p:xfrm>
          <a:off x="665988" y="1818640"/>
          <a:ext cx="10691495" cy="2907993"/>
        </p:xfrm>
        <a:graphic>
          <a:graphicData uri="http://schemas.openxmlformats.org/drawingml/2006/table">
            <a:tbl>
              <a:tblPr/>
              <a:tblGrid>
                <a:gridCol w="10691495">
                  <a:extLst>
                    <a:ext uri="{9D8B030D-6E8A-4147-A177-3AD203B41FA5}">
                      <a16:colId xmlns:a16="http://schemas.microsoft.com/office/drawing/2014/main" val="2675322023"/>
                    </a:ext>
                  </a:extLst>
                </a:gridCol>
              </a:tblGrid>
              <a:tr h="626122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Arial Black" panose="020B0A04020102020204" pitchFamily="34" charset="0"/>
                        </a:rPr>
                        <a:t>Analysis Target :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994993"/>
                  </a:ext>
                </a:extLst>
              </a:tr>
              <a:tr h="2281871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Segoe UI Black" panose="020B0A02040204020203" pitchFamily="34" charset="0"/>
                          <a:ea typeface="Segoe UI Black" panose="020B0A02040204020203" pitchFamily="34" charset="0"/>
                          <a:cs typeface="Times New Roman" panose="02020603050405020304" pitchFamily="18" charset="0"/>
                        </a:rPr>
                        <a:t>Identify top customer segments by spending - Analyze purchase behavior across age, gender, and marital status - Determine top-performing product categories - Analyze city-based purchasing patterns</a:t>
                      </a:r>
                    </a:p>
                  </a:txBody>
                  <a:tcP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04472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92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FB8560-1C8F-6149-7C89-01A3B98B94CD}"/>
              </a:ext>
            </a:extLst>
          </p:cNvPr>
          <p:cNvSpPr txBox="1"/>
          <p:nvPr/>
        </p:nvSpPr>
        <p:spPr>
          <a:xfrm>
            <a:off x="690880" y="374507"/>
            <a:ext cx="3312160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Dataset Description: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1ADC7-5120-A6BC-457F-7AD386F6ADE2}"/>
              </a:ext>
            </a:extLst>
          </p:cNvPr>
          <p:cNvSpPr txBox="1"/>
          <p:nvPr/>
        </p:nvSpPr>
        <p:spPr>
          <a:xfrm>
            <a:off x="457200" y="1686560"/>
            <a:ext cx="430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1.  Number of Transactions :  550 k </a:t>
            </a:r>
            <a:r>
              <a:rPr lang="en-US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B436A-EE09-E8D4-1381-6BA9CA2D160C}"/>
              </a:ext>
            </a:extLst>
          </p:cNvPr>
          <p:cNvSpPr txBox="1"/>
          <p:nvPr/>
        </p:nvSpPr>
        <p:spPr>
          <a:xfrm>
            <a:off x="457200" y="2397760"/>
            <a:ext cx="533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2. Columns : Age , Gender , Purchase , City , Occupation.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C48F5-6671-749F-5882-7A456B971CF2}"/>
              </a:ext>
            </a:extLst>
          </p:cNvPr>
          <p:cNvSpPr txBox="1"/>
          <p:nvPr/>
        </p:nvSpPr>
        <p:spPr>
          <a:xfrm>
            <a:off x="484632" y="3244335"/>
            <a:ext cx="4940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3. Type of Data : Sales Transactions . 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A914543-B839-1FAF-C0C6-77CFE112FC89}"/>
              </a:ext>
            </a:extLst>
          </p:cNvPr>
          <p:cNvSpPr/>
          <p:nvPr/>
        </p:nvSpPr>
        <p:spPr>
          <a:xfrm>
            <a:off x="0" y="203422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259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E9BEA-56FF-1E03-07E2-FD824A1EEE12}"/>
              </a:ext>
            </a:extLst>
          </p:cNvPr>
          <p:cNvSpPr txBox="1"/>
          <p:nvPr/>
        </p:nvSpPr>
        <p:spPr>
          <a:xfrm>
            <a:off x="538480" y="426720"/>
            <a:ext cx="241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Berlin Sans FB Demi" panose="020E0802020502020306" pitchFamily="34" charset="0"/>
              </a:rPr>
              <a:t>Data Cleaning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C3209-5581-6549-7421-8B5255E13A99}"/>
              </a:ext>
            </a:extLst>
          </p:cNvPr>
          <p:cNvSpPr txBox="1"/>
          <p:nvPr/>
        </p:nvSpPr>
        <p:spPr>
          <a:xfrm>
            <a:off x="1219200" y="2214880"/>
            <a:ext cx="6360160" cy="1460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Removed missing values .</a:t>
            </a:r>
          </a:p>
          <a:p>
            <a:pPr fontAlgn="t">
              <a:lnSpc>
                <a:spcPts val="1500"/>
              </a:lnSpc>
            </a:pPr>
            <a:endParaRPr lang="en-US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Converted data types .</a:t>
            </a:r>
          </a:p>
          <a:p>
            <a:pPr fontAlgn="t">
              <a:lnSpc>
                <a:spcPts val="1500"/>
              </a:lnSpc>
            </a:pPr>
            <a:endParaRPr lang="en-US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Renamed columns  .</a:t>
            </a:r>
          </a:p>
          <a:p>
            <a:pPr fontAlgn="t">
              <a:lnSpc>
                <a:spcPts val="1500"/>
              </a:lnSpc>
            </a:pPr>
            <a:endParaRPr lang="en-US" b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Created calculated metrics .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915BCEEC-A819-BE2A-2DE7-C5962E4149FE}"/>
              </a:ext>
            </a:extLst>
          </p:cNvPr>
          <p:cNvSpPr/>
          <p:nvPr/>
        </p:nvSpPr>
        <p:spPr>
          <a:xfrm>
            <a:off x="0" y="426720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9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9DEA7D-B467-EDA6-61B5-E9FA8CCFB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010" y="4450706"/>
            <a:ext cx="6565170" cy="16954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B3892B-001D-4869-026F-FD816F163DC0}"/>
              </a:ext>
            </a:extLst>
          </p:cNvPr>
          <p:cNvSpPr txBox="1"/>
          <p:nvPr/>
        </p:nvSpPr>
        <p:spPr>
          <a:xfrm>
            <a:off x="2865120" y="2194560"/>
            <a:ext cx="4053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Total Sales:  5bn .</a:t>
            </a:r>
          </a:p>
          <a:p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 Avg Purchase:  9K . </a:t>
            </a:r>
          </a:p>
          <a:p>
            <a:r>
              <a:rPr lang="en-US" sz="24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Transactions:  550K.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30CD0-7456-ABE1-2117-E50F5905A669}"/>
              </a:ext>
            </a:extLst>
          </p:cNvPr>
          <p:cNvSpPr txBox="1"/>
          <p:nvPr/>
        </p:nvSpPr>
        <p:spPr>
          <a:xfrm>
            <a:off x="457199" y="493688"/>
            <a:ext cx="11358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This project analyzes customer purchasing behavior during black Friday to identify key drivers of sales and revenue .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010277A8-4CE7-4BF9-3543-C19A62480AF5}"/>
              </a:ext>
            </a:extLst>
          </p:cNvPr>
          <p:cNvSpPr/>
          <p:nvPr/>
        </p:nvSpPr>
        <p:spPr>
          <a:xfrm>
            <a:off x="50798" y="493688"/>
            <a:ext cx="406401" cy="51215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67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0584-104E-C9BC-2D83-27FD4F60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B9B0-5D41-0A3C-F6BE-632E7CC9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22860"/>
            <a:ext cx="10058400" cy="48463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 Customer Analysis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265D3C-04BE-E7EE-7FB4-A9BF8895F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08" y="834060"/>
            <a:ext cx="10058400" cy="2965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The age group 26–35 generates the highest spending among all age groups.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372989-BA1C-10A8-3296-4E786A061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24" y="1428647"/>
            <a:ext cx="5555076" cy="200035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DC9026-D683-D6C6-0A55-A56FB33D1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444" y="4666359"/>
            <a:ext cx="5981796" cy="20367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B3201A-58EF-9E82-BC56-F93C69F17933}"/>
              </a:ext>
            </a:extLst>
          </p:cNvPr>
          <p:cNvSpPr txBox="1"/>
          <p:nvPr/>
        </p:nvSpPr>
        <p:spPr>
          <a:xfrm>
            <a:off x="312324" y="4205300"/>
            <a:ext cx="11026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Male customers contribute the majority of total sales, accounting for approximately 77% of overall purchases.</a:t>
            </a:r>
            <a:endParaRPr lang="en-US" sz="1400" dirty="0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79BA5596-9315-99DF-1414-4313AA15E81A}"/>
              </a:ext>
            </a:extLst>
          </p:cNvPr>
          <p:cNvSpPr/>
          <p:nvPr/>
        </p:nvSpPr>
        <p:spPr>
          <a:xfrm>
            <a:off x="256444" y="22860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106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27F1-03D0-373A-2F82-A4BB444F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22860"/>
            <a:ext cx="10058400" cy="48463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  Customer Analysis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39689B2-AD3D-51C5-E3BB-E70FE9558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28" y="2032940"/>
            <a:ext cx="10058400" cy="3626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Unmarried customers generate more total sales than married customers.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00C094-5640-BF76-59FD-4B7AEAE72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28" y="2927218"/>
            <a:ext cx="6802894" cy="20715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F19A688A-753C-53D1-739D-3AA472AE23E8}"/>
              </a:ext>
            </a:extLst>
          </p:cNvPr>
          <p:cNvSpPr/>
          <p:nvPr/>
        </p:nvSpPr>
        <p:spPr>
          <a:xfrm>
            <a:off x="260096" y="73152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7916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C65A-23AE-DE53-5F5D-2D2A1834A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-203200"/>
            <a:ext cx="10058400" cy="1402080"/>
          </a:xfrm>
        </p:spPr>
        <p:txBody>
          <a:bodyPr>
            <a:normAutofit/>
          </a:bodyPr>
          <a:lstStyle/>
          <a:p>
            <a:r>
              <a:rPr lang="en-US" dirty="0"/>
              <a:t>     City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7DED0-5463-E10A-CBB1-402EAB740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1090168"/>
            <a:ext cx="10058400" cy="405079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800" b="1" dirty="0"/>
              <a:t>Large cities contribute the highest total sales compared to medium and small cities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C2BFA-5DCA-D792-CA54-0E99F3BC2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747" y="1686560"/>
            <a:ext cx="5963854" cy="2696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FDA06D-5FF9-E567-0B83-CBC34CCB71F6}"/>
              </a:ext>
            </a:extLst>
          </p:cNvPr>
          <p:cNvSpPr txBox="1"/>
          <p:nvPr/>
        </p:nvSpPr>
        <p:spPr>
          <a:xfrm>
            <a:off x="1198880" y="5445760"/>
            <a:ext cx="7118411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</a:rPr>
              <a:t>• Large cities generate the highest revenue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600" b="1" dirty="0">
                <a:latin typeface="Arial Black" panose="020B0A04020102020204" pitchFamily="34" charset="0"/>
              </a:rPr>
              <a:t>• Urban areas drive sales growth</a:t>
            </a:r>
          </a:p>
          <a:p>
            <a:endParaRPr lang="en-US" dirty="0"/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9541DD9B-3606-BD6E-8C01-60A758B62406}"/>
              </a:ext>
            </a:extLst>
          </p:cNvPr>
          <p:cNvSpPr/>
          <p:nvPr/>
        </p:nvSpPr>
        <p:spPr>
          <a:xfrm>
            <a:off x="1351280" y="173555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090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34143-3946-59D3-5E10-A8D2CCFF9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484632"/>
            <a:ext cx="9970008" cy="124968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9B932-F6E5-45E5-29EF-ABAB4AA49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70000"/>
            <a:ext cx="10058400" cy="4622800"/>
          </a:xfrm>
        </p:spPr>
        <p:txBody>
          <a:bodyPr>
            <a:normAutofit/>
          </a:bodyPr>
          <a:lstStyle/>
          <a:p>
            <a:r>
              <a:rPr lang="en-US" sz="1800" b="1" dirty="0"/>
              <a:t>Product Category 1 dominates sales, significantly outperforming other categories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D2FDC9-8A27-7A46-730D-53B42616E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" y="1856048"/>
            <a:ext cx="7650480" cy="22930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14398A-A7F5-B194-571B-B6FF36AF9ABB}"/>
              </a:ext>
            </a:extLst>
          </p:cNvPr>
          <p:cNvSpPr txBox="1"/>
          <p:nvPr/>
        </p:nvSpPr>
        <p:spPr>
          <a:xfrm>
            <a:off x="1767840" y="511048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</a:rPr>
              <a:t>Category 1 dominates total sales</a:t>
            </a:r>
          </a:p>
          <a:p>
            <a:r>
              <a:rPr lang="en-US" b="1" dirty="0">
                <a:latin typeface="Segoe UI" panose="020B0502040204020203" pitchFamily="34" charset="0"/>
              </a:rPr>
              <a:t> High demand concentrated in few categories</a:t>
            </a:r>
            <a:endParaRPr lang="en-US" b="1" dirty="0"/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9EEA958C-4700-7C82-F8A9-53A4F88466F9}"/>
              </a:ext>
            </a:extLst>
          </p:cNvPr>
          <p:cNvSpPr/>
          <p:nvPr/>
        </p:nvSpPr>
        <p:spPr>
          <a:xfrm>
            <a:off x="416560" y="304800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038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A0B57-6304-C737-8304-0371E1D1C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344" y="116840"/>
            <a:ext cx="10064496" cy="975360"/>
          </a:xfrm>
        </p:spPr>
        <p:txBody>
          <a:bodyPr>
            <a:noAutofit/>
          </a:bodyPr>
          <a:lstStyle/>
          <a:p>
            <a:r>
              <a:rPr lang="en-US" sz="2400" dirty="0"/>
              <a:t>   </a:t>
            </a:r>
            <a:r>
              <a:rPr lang="en-US" sz="2400" b="1" dirty="0">
                <a:latin typeface="Segoe UI" panose="020B0502040204020203" pitchFamily="34" charset="0"/>
              </a:rPr>
              <a:t>Impact of Occupation and City Stay Duration on Sale</a:t>
            </a:r>
            <a:br>
              <a:rPr lang="en-US" sz="2800" dirty="0">
                <a:latin typeface="Segoe UI" panose="020B0502040204020203" pitchFamily="34" charset="0"/>
              </a:rPr>
            </a:br>
            <a:endParaRPr lang="en-US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FCC7DA-9B04-F329-EFD4-A41C300AE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80" y="1391920"/>
            <a:ext cx="10589768" cy="1706880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" panose="020B0502040204020203" pitchFamily="34" charset="0"/>
              </a:rPr>
              <a:t>Certain occupation groups (such as occupation 4 and 0) show significantly higher total spending than others.</a:t>
            </a:r>
          </a:p>
          <a:p>
            <a:r>
              <a:rPr lang="en-US" b="1" dirty="0">
                <a:latin typeface="Segoe UI" panose="020B0502040204020203" pitchFamily="34" charset="0"/>
              </a:rPr>
              <a:t>Customers who recently moved to a city (1–2 years) tend to have higher purchase activity, especially in large cities</a:t>
            </a:r>
          </a:p>
          <a:p>
            <a:endParaRPr lang="en-US" dirty="0">
              <a:latin typeface="Segoe UI" panose="020B0502040204020203" pitchFamily="34" charset="0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C1170-4254-9825-A23F-073331D49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3398520"/>
            <a:ext cx="9154160" cy="265684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E8F9745-4CDC-422D-04DE-701519415CFA}"/>
              </a:ext>
            </a:extLst>
          </p:cNvPr>
          <p:cNvSpPr/>
          <p:nvPr/>
        </p:nvSpPr>
        <p:spPr>
          <a:xfrm>
            <a:off x="783844" y="124968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738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A4593-6CF6-651C-D00A-2A8DCB463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81608"/>
          </a:xfrm>
        </p:spPr>
        <p:txBody>
          <a:bodyPr/>
          <a:lstStyle/>
          <a:p>
            <a:r>
              <a:rPr lang="en-US" dirty="0"/>
              <a:t>      Conclusion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AE326A-9BCB-DF4B-C318-278B05763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76" y="2113280"/>
            <a:ext cx="10058400" cy="3098800"/>
          </a:xfrm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US" sz="2400" b="1" dirty="0"/>
              <a:t>Key business recommendations :</a:t>
            </a:r>
          </a:p>
          <a:p>
            <a:pPr fontAlgn="t">
              <a:lnSpc>
                <a:spcPts val="1500"/>
              </a:lnSpc>
              <a:buNone/>
            </a:pPr>
            <a:endParaRPr lang="en-US" b="1" dirty="0">
              <a:latin typeface="Arial Black" panose="020B0A04020102020204" pitchFamily="34" charset="0"/>
              <a:cs typeface="Arabic Typesetting" panose="03020402040406030203" pitchFamily="66" charset="-78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Arial Black" panose="020B0A04020102020204" pitchFamily="34" charset="0"/>
                <a:cs typeface="Arabic Typesetting" panose="03020402040406030203" pitchFamily="66" charset="-78"/>
              </a:rPr>
              <a:t>• Targeting high-value age groups, focus marketing effort on this aged</a:t>
            </a:r>
          </a:p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Arial Black" panose="020B0A04020102020204" pitchFamily="34" charset="0"/>
                <a:cs typeface="Arabic Typesetting" panose="03020402040406030203" pitchFamily="66" charset="-78"/>
              </a:rPr>
              <a:t> customers </a:t>
            </a:r>
          </a:p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Arial Black" panose="020B0A04020102020204" pitchFamily="34" charset="0"/>
                <a:cs typeface="Arabic Typesetting" panose="03020402040406030203" pitchFamily="66" charset="-78"/>
              </a:rPr>
              <a:t>• Expanding in large cities</a:t>
            </a:r>
          </a:p>
          <a:p>
            <a:pPr fontAlgn="t">
              <a:lnSpc>
                <a:spcPts val="1500"/>
              </a:lnSpc>
              <a:buNone/>
            </a:pPr>
            <a:r>
              <a:rPr lang="en-US" b="1" dirty="0">
                <a:latin typeface="Arial Black" panose="020B0A04020102020204" pitchFamily="34" charset="0"/>
                <a:cs typeface="Arabic Typesetting" panose="03020402040406030203" pitchFamily="66" charset="-78"/>
              </a:rPr>
              <a:t>• Promoting top-selling products</a:t>
            </a:r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83657621-B9E8-0593-4DF9-732CA440F2B8}"/>
              </a:ext>
            </a:extLst>
          </p:cNvPr>
          <p:cNvSpPr/>
          <p:nvPr/>
        </p:nvSpPr>
        <p:spPr>
          <a:xfrm>
            <a:off x="1103376" y="833120"/>
            <a:ext cx="484632" cy="48463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82527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DCF64D-C894-2335-F272-B9EB26BD48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Thank you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15EB80-F796-3491-C757-25CFC7DF4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080" y="3718560"/>
            <a:ext cx="2611120" cy="74947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Berlin Sans FB Demi" panose="020E0802020502020306" pitchFamily="34" charset="0"/>
              </a:rPr>
              <a:t>Prepared by Mustafa </a:t>
            </a:r>
            <a:r>
              <a:rPr lang="en-US" sz="2400" b="1" dirty="0" err="1">
                <a:latin typeface="Berlin Sans FB Demi" panose="020E0802020502020306" pitchFamily="34" charset="0"/>
              </a:rPr>
              <a:t>Asharf</a:t>
            </a:r>
            <a:r>
              <a:rPr lang="en-US" sz="2400" dirty="0">
                <a:latin typeface="Berlin Sans FB Demi" panose="020E0802020502020306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7654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213</TotalTime>
  <Words>327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Black</vt:lpstr>
      <vt:lpstr>Berlin Sans FB Demi</vt:lpstr>
      <vt:lpstr>Elephant</vt:lpstr>
      <vt:lpstr>Rockwell</vt:lpstr>
      <vt:lpstr>Rockwell Condensed</vt:lpstr>
      <vt:lpstr>Segoe UI</vt:lpstr>
      <vt:lpstr>Segoe UI Black</vt:lpstr>
      <vt:lpstr>Wingdings</vt:lpstr>
      <vt:lpstr>Wood Type</vt:lpstr>
      <vt:lpstr> Black Friday Analysis</vt:lpstr>
      <vt:lpstr>PowerPoint Presentation</vt:lpstr>
      <vt:lpstr>PowerPoint Presentation</vt:lpstr>
      <vt:lpstr>PowerPoint Presentation</vt:lpstr>
      <vt:lpstr>PowerPoint Presentation</vt:lpstr>
      <vt:lpstr>  Customer Analysis </vt:lpstr>
      <vt:lpstr>  Customer Analysis</vt:lpstr>
      <vt:lpstr>     City Analysis </vt:lpstr>
      <vt:lpstr>Product Analysis</vt:lpstr>
      <vt:lpstr>   Impact of Occupation and City Stay Duration on Sale </vt:lpstr>
      <vt:lpstr>      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Mostafa Ashraf</dc:creator>
  <cp:lastModifiedBy>Mostafa Ashraf</cp:lastModifiedBy>
  <cp:revision>10</cp:revision>
  <dcterms:created xsi:type="dcterms:W3CDTF">2026-05-28T22:29:21Z</dcterms:created>
  <dcterms:modified xsi:type="dcterms:W3CDTF">2026-05-29T22:36:06Z</dcterms:modified>
</cp:coreProperties>
</file>